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2-2.svg" ContentType="image/svg+xml"/>
  <Override PartName="/ppt/media/image-12-4.svg" ContentType="image/svg+xml"/>
  <Override PartName="/ppt/media/image-2-2.svg" ContentType="image/svg+xml"/>
  <Override PartName="/ppt/media/image-3-10.svg" ContentType="image/svg+xml"/>
  <Override PartName="/ppt/media/image-3-12.svg" ContentType="image/svg+xml"/>
  <Override PartName="/ppt/media/image-3-14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Shivani Sethi · Business Analyst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73968" cy="0"/>
          </a:xfrm>
          <a:prstGeom prst="line">
            <a:avLst/>
          </a:prstGeom>
          <a:noFill/>
          <a:ln w="10160">
            <a:solidFill>
              <a:srgbClr val="D8D3C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Shivani Sethi · Business Analyst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73968" cy="0"/>
          </a:xfrm>
          <a:prstGeom prst="line">
            <a:avLst/>
          </a:prstGeom>
          <a:noFill/>
          <a:ln w="10160">
            <a:solidFill>
              <a:srgbClr val="34363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E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.xml"/><Relationship Id="rId17" Type="http://schemas.openxmlformats.org/officeDocument/2006/relationships/image" Target="../media/image2.png"/><Relationship Id="rId18" Type="http://schemas.openxmlformats.org/officeDocument/2006/relationships/image" Target="../media/image3.png"/><Relationship Id="rId19" Type="http://schemas.openxmlformats.org/officeDocument/2006/relationships/image" Target="../media/image4.png"/><Relationship Id="rId20" Type="http://schemas.openxmlformats.org/officeDocument/2006/relationships/image" Target="../media/image5.png"/><Relationship Id="rId21" Type="http://schemas.openxmlformats.org/officeDocument/2006/relationships/image" Target="../media/image6.png"/><Relationship Id="rId22" Type="http://schemas.openxmlformats.org/officeDocument/2006/relationships/image" Target="../media/image7.png"/><Relationship Id="rId2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7726680" y="91440"/>
            <a:ext cx="4343400" cy="3886200"/>
          </a:xfrm>
          <a:prstGeom prst="arc">
            <a:avLst/>
          </a:prstGeom>
          <a:solidFill>
            <a:srgbClr val="E1242A">
              <a:alpha val="88000"/>
            </a:srgbClr>
          </a:solidFill>
          <a:ln w="12700">
            <a:solidFill>
              <a:srgbClr val="E12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4526280"/>
            <a:ext cx="2880360" cy="1691640"/>
          </a:xfrm>
          <a:prstGeom prst="ellipse">
            <a:avLst/>
          </a:prstGeom>
          <a:solidFill>
            <a:srgbClr val="241113"/>
          </a:solidFill>
          <a:ln w="12700">
            <a:solidFill>
              <a:srgbClr val="24111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97280"/>
            <a:ext cx="1234440" cy="0"/>
          </a:xfrm>
          <a:prstGeom prst="line">
            <a:avLst/>
          </a:prstGeom>
          <a:noFill/>
          <a:ln w="38100">
            <a:solidFill>
              <a:srgbClr val="E12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BATA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3310128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E12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 Z Consumer &amp; Brand Relevance Strategy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3C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Analytics case study combining primary research, Excel analysis, Power BI and strategic recommendations.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886200"/>
            <a:ext cx="1572768" cy="292608"/>
          </a:xfrm>
          <a:prstGeom prst="roundRect">
            <a:avLst>
              <a:gd name="adj" fmla="val 43750"/>
            </a:avLst>
          </a:prstGeom>
          <a:solidFill>
            <a:srgbClr val="2A2C30"/>
          </a:solidFill>
          <a:ln w="12700">
            <a:solidFill>
              <a:srgbClr val="2A2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8953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ANALYTICS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3886200"/>
            <a:ext cx="1481328" cy="292608"/>
          </a:xfrm>
          <a:prstGeom prst="roundRect">
            <a:avLst>
              <a:gd name="adj" fmla="val 43750"/>
            </a:avLst>
          </a:prstGeom>
          <a:solidFill>
            <a:srgbClr val="2A2C30"/>
          </a:solidFill>
          <a:ln w="12700">
            <a:solidFill>
              <a:srgbClr val="2A2C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38953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STRATEGY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86784" y="3886200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2A2C30"/>
          </a:solidFill>
          <a:ln w="12700">
            <a:solidFill>
              <a:srgbClr val="2A2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38953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9640" y="1417320"/>
            <a:ext cx="2057400" cy="2057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" y="5230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Shivani Sethi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13232" y="5559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598932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F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portfolio project · October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366760" y="5989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F8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affiliated with Bata India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Bata is familiar — but it is not first-choice.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identifies a potential perception and positioning gap among the surveyed young consumers.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578608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020824"/>
            <a:ext cx="54864" cy="1005840"/>
          </a:xfrm>
          <a:prstGeom prst="rect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USAGE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78.6%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2960" y="275234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of 14 have purchased Bata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10128" y="1874520"/>
            <a:ext cx="2578608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2020824"/>
            <a:ext cx="54864" cy="1005840"/>
          </a:xfrm>
          <a:prstGeom prst="rect">
            <a:avLst/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391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PREFERENCE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231343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566160" y="275234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Respondents chose Bata first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53328" y="1874520"/>
            <a:ext cx="2578608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2020824"/>
            <a:ext cx="54864" cy="1005840"/>
          </a:xfrm>
          <a:prstGeom prst="rect">
            <a:avLst/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0391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09360" y="231343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 / 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09360" y="275234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consideration score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796528" y="1874520"/>
            <a:ext cx="2578608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06256" y="2020824"/>
            <a:ext cx="54864" cy="1005840"/>
          </a:xfrm>
          <a:prstGeom prst="rect">
            <a:avLst/>
          </a:prstGeom>
          <a:solidFill>
            <a:srgbClr val="2BAA84"/>
          </a:solidFill>
          <a:ln w="12700">
            <a:solidFill>
              <a:srgbClr val="2BAA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203911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REQUEST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52560" y="231343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14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052560" y="275234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more sneakers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66928" y="3456432"/>
            <a:ext cx="10972800" cy="217627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DIAGNOSIS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" y="40873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issue may be less about product availability and more about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41248" y="4462272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visibility, style relevance and youth-facing positioning.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1248" y="5010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already competes on affordability and offers sneakers through North Star and Power. Yet the exploratory sample still associates the brand more strongly with functional value than trend relevance.</a:t>
            </a:r>
            <a:endParaRPr lang="en-US" sz="1140" dirty="0"/>
          </a:p>
        </p:txBody>
      </p:sp>
      <p:sp>
        <p:nvSpPr>
          <p:cNvPr id="31" name="Text 28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Primary exploratory survey, n=14; secondary research from official brand websites.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pic>
        <p:nvPicPr>
          <p:cNvPr id="32" name="Picture 31" descr="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85876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survey response to business recommendation.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end-to-end analytics workflow designed to connect consumer evidence with strategy.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Research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12-question survey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responses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2327148" y="3163824"/>
            <a:ext cx="100584" cy="320040"/>
          </a:xfrm>
          <a:prstGeom prst="chevron">
            <a:avLst/>
          </a:prstGeom>
          <a:solidFill>
            <a:srgbClr val="D8D3CD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0592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78608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0048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578608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578608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cleaning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helper fields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4183380" y="3163824"/>
            <a:ext cx="100584" cy="320040"/>
          </a:xfrm>
          <a:prstGeom prst="chevron">
            <a:avLst/>
          </a:prstGeom>
          <a:solidFill>
            <a:srgbClr val="D8D3CD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06824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34840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434840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&amp; Insights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434840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PivotTables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Cross-analysis</a:t>
            </a:r>
            <a:endParaRPr lang="en-US" sz="1020" dirty="0"/>
          </a:p>
        </p:txBody>
      </p:sp>
      <p:sp>
        <p:nvSpPr>
          <p:cNvPr id="25" name="Shape 20"/>
          <p:cNvSpPr/>
          <p:nvPr/>
        </p:nvSpPr>
        <p:spPr>
          <a:xfrm>
            <a:off x="6039612" y="3163824"/>
            <a:ext cx="100584" cy="320040"/>
          </a:xfrm>
          <a:prstGeom prst="chevron">
            <a:avLst/>
          </a:prstGeom>
          <a:solidFill>
            <a:srgbClr val="D8D3CD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63056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91072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82512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91072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291072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DAX measures</a:t>
            </a:r>
            <a:endParaRPr lang="en-US" sz="1020" dirty="0"/>
          </a:p>
        </p:txBody>
      </p:sp>
      <p:sp>
        <p:nvSpPr>
          <p:cNvPr id="32" name="Shape 26"/>
          <p:cNvSpPr/>
          <p:nvPr/>
        </p:nvSpPr>
        <p:spPr>
          <a:xfrm>
            <a:off x="7895844" y="3163824"/>
            <a:ext cx="100584" cy="320040"/>
          </a:xfrm>
          <a:prstGeom prst="chevron">
            <a:avLst/>
          </a:prstGeom>
          <a:solidFill>
            <a:srgbClr val="D8D3CD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019288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47304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238744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147304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Context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8147304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+ competitors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websites</a:t>
            </a:r>
            <a:endParaRPr lang="en-US" sz="1020" dirty="0"/>
          </a:p>
        </p:txBody>
      </p:sp>
      <p:sp>
        <p:nvSpPr>
          <p:cNvPr id="39" name="Shape 32"/>
          <p:cNvSpPr/>
          <p:nvPr/>
        </p:nvSpPr>
        <p:spPr>
          <a:xfrm>
            <a:off x="9752076" y="3163824"/>
            <a:ext cx="100584" cy="320040"/>
          </a:xfrm>
          <a:prstGeom prst="chevron">
            <a:avLst/>
          </a:prstGeom>
          <a:solidFill>
            <a:srgbClr val="D8D3CD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875520" y="1993392"/>
            <a:ext cx="1700784" cy="2761488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0003536" y="2139696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F2EFEB"/>
          </a:solidFill>
          <a:ln w="12700">
            <a:solidFill>
              <a:srgbClr val="F2EFE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0094976" y="21488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0003536" y="318211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10003536" y="37490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analysis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+ KPIs</a:t>
            </a:r>
            <a:endParaRPr lang="en-US" sz="1020" dirty="0"/>
          </a:p>
        </p:txBody>
      </p:sp>
      <p:sp>
        <p:nvSpPr>
          <p:cNvPr id="46" name="Shape 38"/>
          <p:cNvSpPr/>
          <p:nvPr/>
        </p:nvSpPr>
        <p:spPr>
          <a:xfrm>
            <a:off x="594360" y="5074920"/>
            <a:ext cx="10972800" cy="822960"/>
          </a:xfrm>
          <a:prstGeom prst="roundRect">
            <a:avLst>
              <a:gd name="adj" fmla="val 15556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1170432" y="51755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caveat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2212848" y="5138928"/>
            <a:ext cx="8887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 is a convenience sample of 14 respondents. Findings are directional and exploratory — not representative of all Gen Z consumers in India.</a:t>
            </a:r>
            <a:endParaRPr lang="en-US" sz="1050" dirty="0"/>
          </a:p>
        </p:txBody>
      </p:sp>
      <p:sp>
        <p:nvSpPr>
          <p:cNvPr id="50" name="Text 41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workbook: BATA_NEXT_Business_Analytics_Project.xlsx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pic>
        <p:nvPicPr>
          <p:cNvPr id="51" name="Picture 50" descr="warnin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816" y="5294376"/>
            <a:ext cx="256032" cy="256032"/>
          </a:xfrm>
          <a:prstGeom prst="rect">
            <a:avLst/>
          </a:prstGeom>
        </p:spPr>
      </p:pic>
      <p:pic>
        <p:nvPicPr>
          <p:cNvPr id="52" name="Picture 51" descr="strateg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0112" y="2651760"/>
            <a:ext cx="393192" cy="393192"/>
          </a:xfrm>
          <a:prstGeom prst="rect">
            <a:avLst/>
          </a:prstGeom>
        </p:spPr>
      </p:pic>
      <p:pic>
        <p:nvPicPr>
          <p:cNvPr id="53" name="Picture 52" descr="mark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83880" y="2651760"/>
            <a:ext cx="393192" cy="393192"/>
          </a:xfrm>
          <a:prstGeom prst="rect">
            <a:avLst/>
          </a:prstGeom>
        </p:spPr>
      </p:pic>
      <p:pic>
        <p:nvPicPr>
          <p:cNvPr id="54" name="Picture 53" descr="dashboar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7648" y="2651760"/>
            <a:ext cx="393192" cy="393192"/>
          </a:xfrm>
          <a:prstGeom prst="rect">
            <a:avLst/>
          </a:prstGeom>
        </p:spPr>
      </p:pic>
      <p:pic>
        <p:nvPicPr>
          <p:cNvPr id="55" name="Picture 54" descr="insight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71416" y="2651760"/>
            <a:ext cx="393192" cy="393192"/>
          </a:xfrm>
          <a:prstGeom prst="rect">
            <a:avLst/>
          </a:prstGeom>
        </p:spPr>
      </p:pic>
      <p:pic>
        <p:nvPicPr>
          <p:cNvPr id="56" name="Picture 55" descr="data_prep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5184" y="2651760"/>
            <a:ext cx="393192" cy="393192"/>
          </a:xfrm>
          <a:prstGeom prst="rect">
            <a:avLst/>
          </a:prstGeom>
        </p:spPr>
      </p:pic>
      <p:pic>
        <p:nvPicPr>
          <p:cNvPr id="57" name="Picture 56" descr="survey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8952" y="2651760"/>
            <a:ext cx="393192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CONSUMER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sample is sneaker-led and strongly value-conscious.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simple patterns shape the opportunity: footwear type, spend level and brand choice.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493008" cy="3584448"/>
          </a:xfrm>
          <a:prstGeom prst="roundRect">
            <a:avLst>
              <a:gd name="adj" fmla="val 3665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574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PURCHASED FOOTWEAR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960120" cy="379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1856232" y="2579400"/>
            <a:ext cx="1600200" cy="189890"/>
          </a:xfrm>
          <a:prstGeom prst="roundRect">
            <a:avLst>
              <a:gd name="adj" fmla="val 24077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6232" y="2579400"/>
            <a:ext cx="1600200" cy="189890"/>
          </a:xfrm>
          <a:prstGeom prst="roundRect">
            <a:avLst>
              <a:gd name="adj" fmla="val 24077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498019"/>
            <a:ext cx="2560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3029712"/>
            <a:ext cx="960120" cy="379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1856232" y="3121944"/>
            <a:ext cx="1600200" cy="189890"/>
          </a:xfrm>
          <a:prstGeom prst="roundRect">
            <a:avLst>
              <a:gd name="adj" fmla="val 24077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6232" y="3121944"/>
            <a:ext cx="800100" cy="189890"/>
          </a:xfrm>
          <a:prstGeom prst="roundRect">
            <a:avLst>
              <a:gd name="adj" fmla="val 24077"/>
            </a:avLst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3040563"/>
            <a:ext cx="2560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3572256"/>
            <a:ext cx="960120" cy="379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Casual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1856232" y="3664488"/>
            <a:ext cx="1600200" cy="189890"/>
          </a:xfrm>
          <a:prstGeom prst="roundRect">
            <a:avLst>
              <a:gd name="adj" fmla="val 24077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6232" y="3664488"/>
            <a:ext cx="400050" cy="189890"/>
          </a:xfrm>
          <a:prstGeom prst="roundRect">
            <a:avLst>
              <a:gd name="adj" fmla="val 24077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583107"/>
            <a:ext cx="25603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782312"/>
            <a:ext cx="804672" cy="292608"/>
          </a:xfrm>
          <a:prstGeom prst="roundRect">
            <a:avLst>
              <a:gd name="adj" fmla="val 4375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9145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of 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19072" y="477316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respondents mainly buy sneakers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1847088"/>
            <a:ext cx="3547872" cy="358444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057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SPEND PER PAIR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15184"/>
            <a:ext cx="562356" cy="1554480"/>
          </a:xfrm>
          <a:prstGeom prst="roundRect">
            <a:avLst>
              <a:gd name="adj" fmla="val 8130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368296"/>
            <a:ext cx="562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98848" y="4242816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&lt;₹1k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5335524" y="2615184"/>
            <a:ext cx="562356" cy="1554480"/>
          </a:xfrm>
          <a:prstGeom prst="roundRect">
            <a:avLst>
              <a:gd name="adj" fmla="val 8130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5524" y="2368296"/>
            <a:ext cx="562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62372" y="4242816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₹1–2k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099048" y="3236976"/>
            <a:ext cx="562356" cy="932688"/>
          </a:xfrm>
          <a:prstGeom prst="roundRect">
            <a:avLst>
              <a:gd name="adj" fmla="val 8130"/>
            </a:avLst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2990088"/>
            <a:ext cx="562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25896" y="4242816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₹2–3k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6862572" y="3858768"/>
            <a:ext cx="562356" cy="310896"/>
          </a:xfrm>
          <a:prstGeom prst="roundRect">
            <a:avLst>
              <a:gd name="adj" fmla="val 14706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2572" y="3611880"/>
            <a:ext cx="562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89420" y="4242816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₹5k+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4553712" y="4782312"/>
            <a:ext cx="896112" cy="292608"/>
          </a:xfrm>
          <a:prstGeom prst="roundRect">
            <a:avLst>
              <a:gd name="adj" fmla="val 4375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7914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of 14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9552" y="477316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below ₹2,000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19872" y="1847088"/>
            <a:ext cx="3502152" cy="3584448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7616" y="20574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FIRST-CHOICE BRAND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57616" y="2404872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Tape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9272016" y="2457058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72016" y="2457058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18520" y="2411012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57616" y="2711849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Nike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9272016" y="2764035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72016" y="2764035"/>
            <a:ext cx="1282446" cy="107442"/>
          </a:xfrm>
          <a:prstGeom prst="roundRect">
            <a:avLst>
              <a:gd name="adj" fmla="val 42553"/>
            </a:avLst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18520" y="2717989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57616" y="3018826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Puma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9272016" y="3071012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071012"/>
            <a:ext cx="854964" cy="107442"/>
          </a:xfrm>
          <a:prstGeom prst="roundRect">
            <a:avLst>
              <a:gd name="adj" fmla="val 42553"/>
            </a:avLst>
          </a:prstGeom>
          <a:solidFill>
            <a:srgbClr val="5F7FBF"/>
          </a:solidFill>
          <a:ln w="12700">
            <a:solidFill>
              <a:srgbClr val="5F7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018520" y="3024966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57616" y="3325803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Skechers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9272016" y="3377990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72016" y="3377990"/>
            <a:ext cx="854964" cy="107442"/>
          </a:xfrm>
          <a:prstGeom prst="roundRect">
            <a:avLst>
              <a:gd name="adj" fmla="val 42553"/>
            </a:avLst>
          </a:prstGeom>
          <a:solidFill>
            <a:srgbClr val="5F7FBF"/>
          </a:solidFill>
          <a:ln w="12700">
            <a:solidFill>
              <a:srgbClr val="5F7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018520" y="3331943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57616" y="3632781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9272016" y="3684967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72016" y="3684967"/>
            <a:ext cx="854964" cy="107442"/>
          </a:xfrm>
          <a:prstGeom prst="roundRect">
            <a:avLst>
              <a:gd name="adj" fmla="val 42553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018520" y="3638920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57616" y="3939758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Adidas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9272016" y="3991944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72016" y="3991944"/>
            <a:ext cx="427482" cy="107442"/>
          </a:xfrm>
          <a:prstGeom prst="roundRect">
            <a:avLst>
              <a:gd name="adj" fmla="val 42553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18520" y="3945897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57616" y="4246735"/>
            <a:ext cx="8229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9272016" y="4298921"/>
            <a:ext cx="1709928" cy="107442"/>
          </a:xfrm>
          <a:prstGeom prst="roundRect">
            <a:avLst>
              <a:gd name="adj" fmla="val 42553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18520" y="4252874"/>
            <a:ext cx="256032" cy="18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357616" y="48737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was not selected as first choice</a:t>
            </a:r>
            <a:endParaRPr lang="en-US" sz="960" dirty="0"/>
          </a:p>
        </p:txBody>
      </p:sp>
      <p:sp>
        <p:nvSpPr>
          <p:cNvPr id="69" name="Text 67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Primary exploratory survey, n=14.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PREFERENCE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familiarity is not converting into current preference.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story in the data is the drop between past usage and present-day choice.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21214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purchased Bata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2340864"/>
            <a:ext cx="960120" cy="685800"/>
          </a:xfrm>
          <a:prstGeom prst="chevron">
            <a:avLst/>
          </a:prstGeom>
          <a:solidFill>
            <a:srgbClr val="3A3C40"/>
          </a:solidFill>
          <a:ln w="12700">
            <a:solidFill>
              <a:srgbClr val="3A3C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1214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 Bata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10528" y="2340864"/>
            <a:ext cx="960120" cy="685800"/>
          </a:xfrm>
          <a:prstGeom prst="chevron">
            <a:avLst/>
          </a:prstGeom>
          <a:solidFill>
            <a:srgbClr val="3A3C40"/>
          </a:solidFill>
          <a:ln w="12700">
            <a:solidFill>
              <a:srgbClr val="3A3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1214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DA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 / 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699248" y="26517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future consideration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3438144"/>
            <a:ext cx="10561320" cy="1847088"/>
          </a:xfrm>
          <a:prstGeom prst="roundRect">
            <a:avLst>
              <a:gd name="adj" fmla="val 6931"/>
            </a:avLst>
          </a:prstGeom>
          <a:solidFill>
            <a:srgbClr val="1B1D20"/>
          </a:solidFill>
          <a:ln w="12700">
            <a:solidFill>
              <a:srgbClr val="3032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675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4050792"/>
            <a:ext cx="9418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still has trust and memory. The challenge is turning that familiarity into active relevance at the moment of choice.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4128" y="475488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5B8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brand perception and communication as important as product availability.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77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Primary exploratory survey, n=14.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E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PERCEPTION &amp; BARRIERS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Bata wins on functional value — but style relevance is the friction.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points to a mismatch between what Bata is known for and what younger buyers want to feel.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413248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RESPONDENTS PERCEIVE BATA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414016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249424" y="2465120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465120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2BAA84"/>
          </a:solidFill>
          <a:ln w="12700">
            <a:solidFill>
              <a:srgbClr val="2BAA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5816" y="2420028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2714625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quality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249424" y="2765729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9424" y="2765729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2BAA84"/>
          </a:solidFill>
          <a:ln w="12700">
            <a:solidFill>
              <a:srgbClr val="2BA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720637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3015234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Comfortable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249424" y="3066338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9424" y="3066338"/>
            <a:ext cx="2479853" cy="105213"/>
          </a:xfrm>
          <a:prstGeom prst="roundRect">
            <a:avLst>
              <a:gd name="adj" fmla="val 43455"/>
            </a:avLst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3021246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3315843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249424" y="3366947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9424" y="3366947"/>
            <a:ext cx="1859890" cy="105213"/>
          </a:xfrm>
          <a:prstGeom prst="roundRect">
            <a:avLst>
              <a:gd name="adj" fmla="val 43455"/>
            </a:avLst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85816" y="3321855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616452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friendly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249424" y="3667556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9424" y="3667556"/>
            <a:ext cx="1239926" cy="105213"/>
          </a:xfrm>
          <a:prstGeom prst="roundRect">
            <a:avLst>
              <a:gd name="adj" fmla="val 43455"/>
            </a:avLst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5816" y="3622464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917061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Easily available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249424" y="3968165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9424" y="3968165"/>
            <a:ext cx="1239926" cy="105213"/>
          </a:xfrm>
          <a:prstGeom prst="roundRect">
            <a:avLst>
              <a:gd name="adj" fmla="val 43455"/>
            </a:avLst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85816" y="3923073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" y="4217670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Stylish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249424" y="4268774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9424" y="4268774"/>
            <a:ext cx="619963" cy="105213"/>
          </a:xfrm>
          <a:prstGeom prst="roundRect">
            <a:avLst>
              <a:gd name="adj" fmla="val 43455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85816" y="4223682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4518279"/>
            <a:ext cx="1353312" cy="21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Trendy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249424" y="4569383"/>
            <a:ext cx="3099816" cy="105213"/>
          </a:xfrm>
          <a:prstGeom prst="roundRect">
            <a:avLst>
              <a:gd name="adj" fmla="val 4345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4524291"/>
            <a:ext cx="256032" cy="18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36208" y="1883664"/>
            <a:ext cx="539496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084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BARRIERS TO CHOOSING BATA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3952" y="2414016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trendy enough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805672" y="2481895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05672" y="2481895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63656" y="2422002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73952" y="2813304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don’t match taste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8805672" y="2881183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05672" y="2881183"/>
            <a:ext cx="1591056" cy="139751"/>
          </a:xfrm>
          <a:prstGeom prst="roundRect">
            <a:avLst>
              <a:gd name="adj" fmla="val 32715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63656" y="2821290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73952" y="3212592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other brands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8805672" y="3280471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5672" y="3280471"/>
            <a:ext cx="1060704" cy="139751"/>
          </a:xfrm>
          <a:prstGeom prst="roundRect">
            <a:avLst>
              <a:gd name="adj" fmla="val 32715"/>
            </a:avLst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63656" y="3220578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73952" y="3611880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awareness of newer products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805672" y="3679759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5672" y="3679759"/>
            <a:ext cx="1060704" cy="139751"/>
          </a:xfrm>
          <a:prstGeom prst="roundRect">
            <a:avLst>
              <a:gd name="adj" fmla="val 32715"/>
            </a:avLst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63656" y="3619866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73952" y="4011168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image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8805672" y="4079047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5672" y="4079047"/>
            <a:ext cx="530352" cy="139751"/>
          </a:xfrm>
          <a:prstGeom prst="roundRect">
            <a:avLst>
              <a:gd name="adj" fmla="val 32715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63656" y="4019154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73952" y="4410456"/>
            <a:ext cx="2240280" cy="279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/ other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8805672" y="4478335"/>
            <a:ext cx="2121408" cy="139751"/>
          </a:xfrm>
          <a:prstGeom prst="roundRect">
            <a:avLst>
              <a:gd name="adj" fmla="val 32715"/>
            </a:avLst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5672" y="4478335"/>
            <a:ext cx="1060704" cy="139751"/>
          </a:xfrm>
          <a:prstGeom prst="roundRect">
            <a:avLst>
              <a:gd name="adj" fmla="val 32715"/>
            </a:avLst>
          </a:prstGeom>
          <a:solidFill>
            <a:srgbClr val="9AA1A8"/>
          </a:solidFill>
          <a:ln w="12700">
            <a:solidFill>
              <a:srgbClr val="9AA1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63656" y="4418442"/>
            <a:ext cx="25603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6928" y="5404104"/>
            <a:ext cx="11064240" cy="621792"/>
          </a:xfrm>
          <a:prstGeom prst="roundRect">
            <a:avLst>
              <a:gd name="adj" fmla="val 20588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" y="555955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Signal: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389888" y="5513832"/>
            <a:ext cx="971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affordability and quality — but strengthen style cues, sneaker visibility and awareness of newer products.</a:t>
            </a:r>
            <a:endParaRPr lang="en-US" sz="1140" dirty="0"/>
          </a:p>
        </p:txBody>
      </p:sp>
      <p:sp>
        <p:nvSpPr>
          <p:cNvPr id="67" name="Text 65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Primary exploratory survey, n=14. Multi-response perception question.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ANALYTICS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Power BI dashboard makes the evidence interactive.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the cleaned respondent-level dataset with DAX measures and slicers.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0881360" cy="4315968"/>
          </a:xfrm>
          <a:prstGeom prst="roundRect">
            <a:avLst>
              <a:gd name="adj" fmla="val 2966"/>
            </a:avLst>
          </a:prstGeom>
          <a:solidFill>
            <a:srgbClr val="181A1C"/>
          </a:solidFill>
          <a:ln w="12700">
            <a:solidFill>
              <a:srgbClr val="343638"/>
            </a:solidFill>
            <a:prstDash val="solid"/>
          </a:ln>
        </p:spPr>
      </p:sp>
      <p:pic>
        <p:nvPicPr>
          <p:cNvPr id="6" name="Image 0" descr="/mnt/data/image(20261004-19230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6458" y="1920240"/>
            <a:ext cx="7116036" cy="3995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84080" y="1536192"/>
            <a:ext cx="1078992" cy="292608"/>
          </a:xfrm>
          <a:prstGeom prst="roundRect">
            <a:avLst>
              <a:gd name="adj" fmla="val 43750"/>
            </a:avLst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0" y="15453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6007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9AC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filters: Age group · Current status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77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source: primary exploratory survey, n=14.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E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SECONDARY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context changes the diagnosis.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already has youth-oriented sneaker products — so the issue is not simply “make more sneakers.”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456432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1874520"/>
            <a:ext cx="64008" cy="1371600"/>
          </a:xfrm>
          <a:prstGeom prst="rect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2084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already has the 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 and Power sneaker/running options are currently visible from about ₹899 to ₹2,499.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56432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70832" y="1874520"/>
            <a:ext cx="64008" cy="1371600"/>
          </a:xfrm>
          <a:prstGeom prst="rect">
            <a:avLst/>
          </a:prstGeom>
          <a:solidFill>
            <a:srgbClr val="F0A34A"/>
          </a:solidFill>
          <a:ln w="12700">
            <a:solidFill>
              <a:srgbClr val="F0A3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2084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competitors are aggressive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and Red Tape lean heavily on accessible price points, variety and visible promotional discounts.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174736" y="1874520"/>
            <a:ext cx="3456432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74736" y="1874520"/>
            <a:ext cx="64008" cy="1371600"/>
          </a:xfrm>
          <a:prstGeom prst="rect">
            <a:avLst/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75904" y="2084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brands sell culture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PUMA combines performance with trend-led icons, collaborations and stronger lifestyle storytelling.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566928" y="60167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Bata, Campus Shoes, RedTape and PUMA India official websites; accessed Oct 2026.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66928" y="3310128"/>
            <a:ext cx="32004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E5262A"/>
                </a:solidFill>
                <a:latin typeface="Arial"/>
              </a:rPr>
              <a:t>POSITIONING MAP (ILLUSTRATIVE)</a:t>
            </a:r>
          </a:p>
        </p:txBody>
      </p:sp>
      <p:sp>
        <p:nvSpPr>
          <p:cNvPr id="34" name="Straight Connector 33"/>
          <p:cNvSpPr/>
          <p:nvPr/>
        </p:nvSpPr>
        <p:spPr>
          <a:xfrm>
            <a:off x="941832" y="5047488"/>
            <a:ext cx="9345168" cy="0"/>
          </a:xfrm>
          <a:prstGeom prst="lineInv">
            <a:avLst/>
          </a:prstGeom>
          <a:ln w="17780">
            <a:solidFill>
              <a:srgbClr val="AFA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raight Connector 34"/>
          <p:cNvSpPr/>
          <p:nvPr/>
        </p:nvSpPr>
        <p:spPr>
          <a:xfrm>
            <a:off x="941832" y="5047488"/>
            <a:ext cx="0" cy="-1435607"/>
          </a:xfrm>
          <a:prstGeom prst="lineInv">
            <a:avLst/>
          </a:prstGeom>
          <a:ln w="17780">
            <a:solidFill>
              <a:srgbClr val="AFA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10250424" y="5006340"/>
            <a:ext cx="91440" cy="82296"/>
          </a:xfrm>
          <a:prstGeom prst="triangle">
            <a:avLst/>
          </a:prstGeom>
          <a:solidFill>
            <a:srgbClr val="AFACA8"/>
          </a:solidFill>
          <a:ln>
            <a:solidFill>
              <a:srgbClr val="AFA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900684" y="3529584"/>
            <a:ext cx="82296" cy="91440"/>
          </a:xfrm>
          <a:prstGeom prst="triangle">
            <a:avLst/>
          </a:prstGeom>
          <a:solidFill>
            <a:srgbClr val="AFACA8"/>
          </a:solidFill>
          <a:ln>
            <a:solidFill>
              <a:srgbClr val="AFA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102352"/>
            <a:ext cx="1463040" cy="16459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697077"/>
                </a:solidFill>
                <a:latin typeface="Arial"/>
              </a:rPr>
              <a:t>More value-led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02352"/>
            <a:ext cx="2148840" cy="16459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/>
            <a:r>
              <a:rPr sz="1100" b="0">
                <a:solidFill>
                  <a:srgbClr val="697077"/>
                </a:solidFill>
                <a:latin typeface="Arial"/>
              </a:rPr>
              <a:t>More premium / style-led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703320"/>
            <a:ext cx="502920" cy="8229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697077"/>
                </a:solidFill>
                <a:latin typeface="Arial"/>
              </a:rPr>
              <a:t>More
trend-led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03120" y="4361688"/>
            <a:ext cx="676656" cy="256032"/>
          </a:xfrm>
          <a:prstGeom prst="roundRect">
            <a:avLst/>
          </a:prstGeom>
          <a:solidFill>
            <a:srgbClr val="E5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BATA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20440" y="4187952"/>
            <a:ext cx="804672" cy="256032"/>
          </a:xfrm>
          <a:prstGeom prst="roundRect">
            <a:avLst/>
          </a:prstGeom>
          <a:solidFill>
            <a:srgbClr val="FC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1">
                <a:solidFill>
                  <a:srgbClr val="BF671C"/>
                </a:solidFill>
                <a:latin typeface="Arial"/>
              </a:rPr>
              <a:t>Campus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4920" y="3941063"/>
            <a:ext cx="914400" cy="256032"/>
          </a:xfrm>
          <a:prstGeom prst="roundRect">
            <a:avLst/>
          </a:prstGeom>
          <a:solidFill>
            <a:srgbClr val="FC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1">
                <a:solidFill>
                  <a:srgbClr val="BF671C"/>
                </a:solidFill>
                <a:latin typeface="Arial"/>
              </a:rPr>
              <a:t>Red Tape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3593592"/>
            <a:ext cx="786384" cy="256032"/>
          </a:xfrm>
          <a:prstGeom prst="roundRect">
            <a:avLst/>
          </a:prstGeom>
          <a:solidFill>
            <a:srgbClr val="E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1">
                <a:solidFill>
                  <a:srgbClr val="2277CD"/>
                </a:solidFill>
                <a:latin typeface="Arial"/>
              </a:rPr>
              <a:t>PUMA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5532120"/>
            <a:ext cx="10561320" cy="384048"/>
          </a:xfrm>
          <a:prstGeom prst="roundRect">
            <a:avLst/>
          </a:prstGeom>
          <a:solidFill>
            <a:srgbClr val="E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4008"/>
          <a:lstStyle/>
          <a:p>
            <a:pPr algn="ctr"/>
            <a:r>
              <a:rPr sz="950" b="1">
                <a:solidFill>
                  <a:srgbClr val="1F2329"/>
                </a:solidFill>
                <a:latin typeface="Arial"/>
              </a:rPr>
              <a:t>Implication: the likely gap is converting existing value + sneaker offerings into stronger youth perception and first-choice preference.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BUSINESS DIAGNOSIS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60000"/>
            <a:ext cx="10972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 is to shift from “known &amp; functional” to “considered &amp; contemporary.”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20000"/>
            <a:ext cx="10789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target and positioning direction emerges from the combined evidence.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4944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1772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TO-BE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3957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/ previously purchased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41648" y="2377440"/>
            <a:ext cx="310896" cy="310896"/>
          </a:xfrm>
          <a:prstGeom prst="chevron">
            <a:avLst/>
          </a:prstGeom>
          <a:solidFill>
            <a:srgbClr val="D4CEC8"/>
          </a:solidFill>
          <a:ln w="12700">
            <a:solidFill>
              <a:srgbClr val="D4CE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2304288"/>
            <a:ext cx="3236976" cy="457200"/>
          </a:xfrm>
          <a:prstGeom prst="roundRect">
            <a:avLst>
              <a:gd name="adj" fmla="val 2800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+ actively considered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971800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06324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 / good quality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41648" y="3044952"/>
            <a:ext cx="310896" cy="310896"/>
          </a:xfrm>
          <a:prstGeom prst="chevron">
            <a:avLst/>
          </a:prstGeom>
          <a:solidFill>
            <a:srgbClr val="D4CEC8"/>
          </a:solidFill>
          <a:ln w="12700">
            <a:solidFill>
              <a:srgbClr val="D4CE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2971800"/>
            <a:ext cx="3236976" cy="457200"/>
          </a:xfrm>
          <a:prstGeom prst="roundRect">
            <a:avLst>
              <a:gd name="adj" fmla="val 2800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063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 + stylish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639312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307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 available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41648" y="3712464"/>
            <a:ext cx="310896" cy="310896"/>
          </a:xfrm>
          <a:prstGeom prst="chevron">
            <a:avLst/>
          </a:prstGeom>
          <a:solidFill>
            <a:srgbClr val="D4CEC8"/>
          </a:solidFill>
          <a:ln w="12700">
            <a:solidFill>
              <a:srgbClr val="D4CE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7136" y="3639312"/>
            <a:ext cx="3236976" cy="457200"/>
          </a:xfrm>
          <a:prstGeom prst="roundRect">
            <a:avLst>
              <a:gd name="adj" fmla="val 2800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30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 visibly relevant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306824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39826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brand cues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41648" y="4379976"/>
            <a:ext cx="310896" cy="310896"/>
          </a:xfrm>
          <a:prstGeom prst="chevron">
            <a:avLst/>
          </a:prstGeom>
          <a:solidFill>
            <a:srgbClr val="D4CEC8"/>
          </a:solidFill>
          <a:ln w="12700">
            <a:solidFill>
              <a:srgbClr val="D4CE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4306824"/>
            <a:ext cx="3236976" cy="457200"/>
          </a:xfrm>
          <a:prstGeom prst="roundRect">
            <a:avLst>
              <a:gd name="adj" fmla="val 2800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398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+ fashionable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1901952"/>
            <a:ext cx="3410712" cy="3429000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112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TARGET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85632" y="244144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Value-Conscious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Seeker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485632" y="3310128"/>
            <a:ext cx="658368" cy="292608"/>
          </a:xfrm>
          <a:prstGeom prst="roundRect">
            <a:avLst>
              <a:gd name="adj" fmla="val 43750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33192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7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18–25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35440" y="3310128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E4F5EF"/>
          </a:solidFill>
          <a:ln w="12700">
            <a:solidFill>
              <a:srgbClr val="E4F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3319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7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₹2,000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241280" y="3310128"/>
            <a:ext cx="1005840" cy="292608"/>
          </a:xfrm>
          <a:prstGeom prst="roundRect">
            <a:avLst>
              <a:gd name="adj" fmla="val 43750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3319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Sneaker-led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85632" y="3822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97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 · comfort · affordability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8485632" y="4233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89720" y="42153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Outdated / low-excitement perception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485632" y="4672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direction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85632" y="491947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“Style that fits your life and your budget.”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658368" y="5449824"/>
            <a:ext cx="7114032" cy="603504"/>
          </a:xfrm>
          <a:prstGeom prst="roundRect">
            <a:avLst>
              <a:gd name="adj" fmla="val 21212"/>
            </a:avLst>
          </a:prstGeom>
          <a:solidFill>
            <a:srgbClr val="1F2225"/>
          </a:solidFill>
          <a:ln w="12700">
            <a:solidFill>
              <a:srgbClr val="1F22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55961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3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hypothesis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49424" y="555040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primary challenge may be perception and visibility — not absence of youth-oriented products.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primary survey + secondary research.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STRATEGIC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BATA NEXT: keep the core strengths, modernise the youth-facing experience.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pillars translate the diagnosis into actions that can be tested before scaling.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83664"/>
            <a:ext cx="2542032" cy="3401568"/>
          </a:xfrm>
          <a:prstGeom prst="roundRect">
            <a:avLst>
              <a:gd name="adj" fmla="val 5036"/>
            </a:avLst>
          </a:prstGeom>
          <a:solidFill>
            <a:srgbClr val="1B1D20"/>
          </a:solidFill>
          <a:ln w="12700">
            <a:solidFill>
              <a:srgbClr val="3133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39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D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3236976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 Visibility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078224"/>
            <a:ext cx="2176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4B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existing youth products easier to discover across digital and store journeys.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438144" y="1883664"/>
            <a:ext cx="2542032" cy="3401568"/>
          </a:xfrm>
          <a:prstGeom prst="roundRect">
            <a:avLst>
              <a:gd name="adj" fmla="val 5036"/>
            </a:avLst>
          </a:prstGeom>
          <a:solidFill>
            <a:srgbClr val="1B1D20"/>
          </a:solidFill>
          <a:ln w="12700">
            <a:solidFill>
              <a:srgbClr val="3133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02736" y="2029968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94176" y="2039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D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02736" y="3236976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Trend-Led Communication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02736" y="4078224"/>
            <a:ext cx="2176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4B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styling, drops and outfit-led content — not only functional product claims.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217920" y="1883664"/>
            <a:ext cx="2542032" cy="3401568"/>
          </a:xfrm>
          <a:prstGeom prst="roundRect">
            <a:avLst>
              <a:gd name="adj" fmla="val 5036"/>
            </a:avLst>
          </a:prstGeom>
          <a:solidFill>
            <a:srgbClr val="1B1D20"/>
          </a:solidFill>
          <a:ln w="12700">
            <a:solidFill>
              <a:srgbClr val="31333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82512" y="2029968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73952" y="2039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D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82512" y="3236976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Value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82512" y="4078224"/>
            <a:ext cx="2176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4B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accessible price points, campus offers and “Under ₹1,999” merchandising.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8997696" y="1883664"/>
            <a:ext cx="2542032" cy="3401568"/>
          </a:xfrm>
          <a:prstGeom prst="roundRect">
            <a:avLst>
              <a:gd name="adj" fmla="val 5036"/>
            </a:avLst>
          </a:prstGeom>
          <a:solidFill>
            <a:srgbClr val="1B1D20"/>
          </a:solidFill>
          <a:ln w="12700">
            <a:solidFill>
              <a:srgbClr val="31333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62288" y="2029968"/>
            <a:ext cx="475488" cy="292608"/>
          </a:xfrm>
          <a:prstGeom prst="roundRect">
            <a:avLst>
              <a:gd name="adj" fmla="val 43750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253728" y="2039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D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162288" y="3236976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Engagement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162288" y="4078224"/>
            <a:ext cx="21762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B4B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campus creators, short-form video and micro-influencers to build salience.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658368" y="5522976"/>
            <a:ext cx="10927080" cy="512064"/>
          </a:xfrm>
          <a:prstGeom prst="roundRect">
            <a:avLst>
              <a:gd name="adj" fmla="val 25000"/>
            </a:avLst>
          </a:prstGeom>
          <a:solidFill>
            <a:srgbClr val="2A181A"/>
          </a:solidFill>
          <a:ln w="12700">
            <a:solidFill>
              <a:srgbClr val="2A181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96112" y="56509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rule:</a:t>
            </a:r>
            <a:endParaRPr lang="en-US" sz="940" dirty="0"/>
          </a:p>
        </p:txBody>
      </p:sp>
      <p:sp>
        <p:nvSpPr>
          <p:cNvPr id="31" name="Text 25"/>
          <p:cNvSpPr/>
          <p:nvPr/>
        </p:nvSpPr>
        <p:spPr>
          <a:xfrm>
            <a:off x="1993392" y="5596128"/>
            <a:ext cx="8924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replace Bata’s value identity — extend it into a more contemporary, visible youth proposition.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77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are exploratory and should be validated through pilot testing.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E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33" name="Picture 32" descr="engagem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2288" y="2587752"/>
            <a:ext cx="438912" cy="438912"/>
          </a:xfrm>
          <a:prstGeom prst="rect">
            <a:avLst/>
          </a:prstGeom>
        </p:spPr>
      </p:pic>
      <p:pic>
        <p:nvPicPr>
          <p:cNvPr id="34" name="Picture 33" descr="pric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2512" y="2587752"/>
            <a:ext cx="438912" cy="438912"/>
          </a:xfrm>
          <a:prstGeom prst="rect">
            <a:avLst/>
          </a:prstGeom>
        </p:spPr>
      </p:pic>
      <p:pic>
        <p:nvPicPr>
          <p:cNvPr id="35" name="Picture 34" descr="communica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2736" y="2587752"/>
            <a:ext cx="438912" cy="438912"/>
          </a:xfrm>
          <a:prstGeom prst="rect">
            <a:avLst/>
          </a:prstGeom>
        </p:spPr>
      </p:pic>
      <p:pic>
        <p:nvPicPr>
          <p:cNvPr id="36" name="Picture 35" descr="visibilit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960" y="258775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ROADMAP &amp;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2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→ learn → scale.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phased pilot reduces risk and creates measurable evidence before a broader rollout.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0120" y="2980944"/>
            <a:ext cx="9747504" cy="0"/>
          </a:xfrm>
          <a:prstGeom prst="line">
            <a:avLst/>
          </a:prstGeom>
          <a:noFill/>
          <a:ln w="25400">
            <a:solidFill>
              <a:srgbClr val="D4CE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70632"/>
            <a:ext cx="420624" cy="420624"/>
          </a:xfrm>
          <a:prstGeom prst="ellipse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6596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F1EEEA"/>
          </a:solidFill>
          <a:ln w="12700">
            <a:solidFill>
              <a:srgbClr val="F1E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&amp; LEARN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sneaker visibility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“Under ₹1,999”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small student/social pilots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224528" y="2770632"/>
            <a:ext cx="420624" cy="420624"/>
          </a:xfrm>
          <a:prstGeom prst="ellipse">
            <a:avLst/>
          </a:prstGeom>
          <a:solidFill>
            <a:srgbClr val="4DA3F7"/>
          </a:solidFill>
          <a:ln w="12700">
            <a:solidFill>
              <a:srgbClr val="4DA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96596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F1EEEA"/>
          </a:solidFill>
          <a:ln w="12700">
            <a:solidFill>
              <a:srgbClr val="F1E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78808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ENGAGEMENT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78808" y="37490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activations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Micro-influencer content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 based on response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7763256" y="2770632"/>
            <a:ext cx="420624" cy="420624"/>
          </a:xfrm>
          <a:prstGeom prst="ellipse">
            <a:avLst/>
          </a:prstGeom>
          <a:solidFill>
            <a:srgbClr val="2BAA84"/>
          </a:solidFill>
          <a:ln w="12700">
            <a:solidFill>
              <a:srgbClr val="2BAA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71816" y="196596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F1EEEA"/>
          </a:solidFill>
          <a:ln w="12700">
            <a:solidFill>
              <a:srgbClr val="F1E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3256" y="19751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17536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WHAT WORKS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17536" y="374904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winning campaigns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youth collections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retention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676656" y="4910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" y="5257800"/>
            <a:ext cx="20116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3675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804672" y="5586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product awareness %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898648" y="5257800"/>
            <a:ext cx="20116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26664" y="53675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CONSIDERATION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026664" y="5586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consideration score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120640" y="5257800"/>
            <a:ext cx="20116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53675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248656" y="5586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 product page views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342632" y="5257800"/>
            <a:ext cx="20116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53675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470648" y="5586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 conversion rate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564624" y="5257800"/>
            <a:ext cx="201168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8D3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53675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6F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9692640" y="5586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 / trend perception score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66928" y="627278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KPI framework for pilot evaluation.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opportunity is not to reinvent Bata — it is to reconnect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B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pilot can test whether clearer sneaker visibility and contemporary presentation improve youth consideration.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6812280" cy="3273552"/>
          </a:xfrm>
          <a:prstGeom prst="roundRect">
            <a:avLst>
              <a:gd name="adj" fmla="val 3911"/>
            </a:avLst>
          </a:prstGeom>
          <a:solidFill>
            <a:srgbClr val="1B1D20"/>
          </a:solidFill>
          <a:ln w="12700">
            <a:solidFill>
              <a:srgbClr val="3032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231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6144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the connection between Bata’s existing value proposition and younger consumers through: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" y="3529584"/>
            <a:ext cx="91440" cy="91440"/>
          </a:xfrm>
          <a:prstGeom prst="ellipse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4472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2C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sneaker visibility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969264" y="3941064"/>
            <a:ext cx="91440" cy="91440"/>
          </a:xfrm>
          <a:prstGeom prst="ellipse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58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2C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trend-led communication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969264" y="4352544"/>
            <a:ext cx="91440" cy="91440"/>
          </a:xfrm>
          <a:prstGeom prst="ellipse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2702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2C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student-oriented pricing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69264" y="4764024"/>
            <a:ext cx="91440" cy="91440"/>
          </a:xfrm>
          <a:prstGeom prst="ellipse">
            <a:avLst/>
          </a:prstGeom>
          <a:solidFill>
            <a:srgbClr val="E1242A"/>
          </a:solidFill>
          <a:ln w="12700">
            <a:solidFill>
              <a:srgbClr val="E12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6817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2C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youth engagement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845552" y="1975104"/>
            <a:ext cx="3602736" cy="1490472"/>
          </a:xfrm>
          <a:prstGeom prst="roundRect">
            <a:avLst>
              <a:gd name="adj" fmla="val 8589"/>
            </a:avLst>
          </a:prstGeom>
          <a:solidFill>
            <a:srgbClr val="2A181A"/>
          </a:solidFill>
          <a:ln w="12700">
            <a:solidFill>
              <a:srgbClr val="2A18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68512" y="2221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1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hypothesis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68512" y="25420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visibility + contemporary presentation can improve consideration.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7845552" y="3739896"/>
            <a:ext cx="3602736" cy="1508760"/>
          </a:xfrm>
          <a:prstGeom prst="roundRect">
            <a:avLst>
              <a:gd name="adj" fmla="val 8485"/>
            </a:avLst>
          </a:prstGeom>
          <a:solidFill>
            <a:srgbClr val="1B1D20"/>
          </a:solidFill>
          <a:ln w="12700">
            <a:solidFill>
              <a:srgbClr val="30323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68512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1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limitation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68512" y="43159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C2C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n=14 convenience sample. Findings are directional; validate with a larger pilot.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49808" y="5779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Shivani Sethi · Business Analyst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49808" y="6099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D9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 NEXT · Consumer Analytics × Brand Strategy</a:t>
            </a:r>
            <a:endParaRPr lang="en-US" sz="920" dirty="0"/>
          </a:p>
        </p:txBody>
      </p:sp>
      <p:sp>
        <p:nvSpPr>
          <p:cNvPr id="26" name="Text 22"/>
          <p:cNvSpPr/>
          <p:nvPr/>
        </p:nvSpPr>
        <p:spPr>
          <a:xfrm>
            <a:off x="6263640" y="579729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7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data: exploratory survey, n=14. Secondary sources: official Bata, Campus, RedTape and PUMA India websites.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E8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7" name="Picture 26" descr="limit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105656"/>
            <a:ext cx="347472" cy="347472"/>
          </a:xfrm>
          <a:prstGeom prst="rect">
            <a:avLst/>
          </a:prstGeom>
        </p:spPr>
      </p:pic>
      <p:pic>
        <p:nvPicPr>
          <p:cNvPr id="28" name="Picture 27" descr="strateg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23408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Independent 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BATA NEXT — Business Analytics Case Study</dc:title>
  <dc:subject>BATA NEXT — Gen Z Consumer &amp; Brand Relevance Strategy</dc:subject>
  <dc:creator>Shivani Sethi</dc:creator>
  <cp:lastModifiedBy>Shivani Sethi</cp:lastModifiedBy>
  <cp:revision>1</cp:revision>
  <dcterms:created xsi:type="dcterms:W3CDTF">2026-10-04T19:30:48Z</dcterms:created>
  <dcterms:modified xsi:type="dcterms:W3CDTF">2026-10-04T19:30:48Z</dcterms:modified>
</cp:coreProperties>
</file>